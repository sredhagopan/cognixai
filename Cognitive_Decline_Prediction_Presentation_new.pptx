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9403DF-280E-40F2-A175-C939172ED672}">
  <a:tblStyle styleId="{F29403DF-280E-40F2-A175-C939172ED6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7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8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0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2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3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5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6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14"/>
          <p:cNvSpPr txBox="1"/>
          <p:nvPr>
            <p:ph idx="2"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14"/>
          <p:cNvSpPr txBox="1"/>
          <p:nvPr>
            <p:ph idx="3"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0" y="416052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822960" y="2331720"/>
            <a:ext cx="10514880" cy="21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EXPLAINABLE AI  ·  CHRONIC DISEASE PROGRESSION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777240" y="2697480"/>
            <a:ext cx="10606320" cy="67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822960" y="3520440"/>
            <a:ext cx="10423440" cy="28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2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9D8E2"/>
                </a:solidFill>
                <a:latin typeface="Calibri"/>
                <a:ea typeface="Calibri"/>
                <a:cs typeface="Calibri"/>
                <a:sym typeface="Calibri"/>
              </a:rPr>
              <a:t>An Explainable AI Platform for Prediction, Simulation, and Clinical Decision Support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822960" y="5989320"/>
            <a:ext cx="5485680" cy="39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Presented by : Sredha Gopan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Innovation Labs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9144000" y="5989320"/>
            <a:ext cx="223956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822960" y="1965960"/>
            <a:ext cx="200520" cy="200520"/>
          </a:xfrm>
          <a:prstGeom prst="ellipse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1143000" y="1965960"/>
            <a:ext cx="200520" cy="200520"/>
          </a:xfrm>
          <a:prstGeom prst="ellipse">
            <a:avLst/>
          </a:prstGeom>
          <a:solidFill>
            <a:srgbClr val="5FA8D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1463040" y="1965960"/>
            <a:ext cx="200520" cy="200520"/>
          </a:xfrm>
          <a:prstGeom prst="ellipse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48640" y="1417320"/>
            <a:ext cx="5942880" cy="365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6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Chronic-disease patients show highly variable cognitive progression across patients.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1B6B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6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Early identification of high-risk patients is difficult.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1B6B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6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Prediction alone is insufficient. Clinicians need patient-specific explanations.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1B6B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6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Gap this project addresses: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63737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r>
              <a:rPr b="0" i="0" lang="en-US" sz="14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Predict the next-visit cognitive score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63737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r>
              <a:rPr b="0" i="0" lang="en-US" sz="14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Explain *why* - per patient, not just globally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99"/>
              </a:spcBef>
              <a:spcAft>
                <a:spcPts val="0"/>
              </a:spcAft>
              <a:buClr>
                <a:srgbClr val="63737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r>
              <a:rPr b="0" i="0" lang="en-US" sz="14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Enable interactive exploration through an AI assistant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6858000" y="1508760"/>
            <a:ext cx="4754160" cy="3931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7132320" y="1737360"/>
            <a:ext cx="42055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WHY IT'S HARD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7132320" y="2148840"/>
            <a:ext cx="4205520" cy="260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Longitudinal healthcare data with irregular visit intervals.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8871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Multiple interacting clinical, demographic, and lifestyle factors.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8871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Healthcare requires explainable models rather than black-box predictions.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E8871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Explanations must avoid clinical overreach.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68880" y="2331720"/>
            <a:ext cx="1965240" cy="123372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Longitudinal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 patients × 6 visits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2890800" y="2331720"/>
            <a:ext cx="1965240" cy="123372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Next-visit cognitive score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5112720" y="2331720"/>
            <a:ext cx="1965240" cy="123372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+ per-patient drivers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7335000" y="2331720"/>
            <a:ext cx="1965240" cy="123372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Phenotype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Domain-based patient groups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556920" y="2331720"/>
            <a:ext cx="1965240" cy="1233720"/>
          </a:xfrm>
          <a:prstGeom prst="roundRect">
            <a:avLst>
              <a:gd fmla="val 10000" name="adj"/>
            </a:avLst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LLM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Context-injected, local LLM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9"/>
          <p:cNvCxnSpPr/>
          <p:nvPr/>
        </p:nvCxnSpPr>
        <p:spPr>
          <a:xfrm>
            <a:off x="2634840" y="294876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3" name="Google Shape;233;p29"/>
          <p:cNvCxnSpPr/>
          <p:nvPr/>
        </p:nvCxnSpPr>
        <p:spPr>
          <a:xfrm>
            <a:off x="4856760" y="294876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4" name="Google Shape;234;p29"/>
          <p:cNvCxnSpPr/>
          <p:nvPr/>
        </p:nvCxnSpPr>
        <p:spPr>
          <a:xfrm>
            <a:off x="7078680" y="294876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5" name="Google Shape;235;p29"/>
          <p:cNvCxnSpPr/>
          <p:nvPr/>
        </p:nvCxnSpPr>
        <p:spPr>
          <a:xfrm>
            <a:off x="9300600" y="294876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6" name="Google Shape;236;p29"/>
          <p:cNvSpPr/>
          <p:nvPr/>
        </p:nvSpPr>
        <p:spPr>
          <a:xfrm>
            <a:off x="548640" y="4572000"/>
            <a:ext cx="5074200" cy="141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/>
          <p:nvPr/>
        </p:nvSpPr>
        <p:spPr>
          <a:xfrm>
            <a:off x="777240" y="4709160"/>
            <a:ext cx="45712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OFFLINE (run once)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777240" y="5029200"/>
            <a:ext cx="4662720" cy="80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xgboost_and_shap.py — train model + compute SHAP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generate_shap_phenotype.py — cluster patients, build knowledge base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5806440" y="4572000"/>
            <a:ext cx="5805720" cy="141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"/>
          <p:cNvSpPr/>
          <p:nvPr/>
        </p:nvSpPr>
        <p:spPr>
          <a:xfrm>
            <a:off x="6035040" y="4709160"/>
            <a:ext cx="539424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LIVE (interactive)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6035040" y="5029200"/>
            <a:ext cx="548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llm_chatbot.py — patient Q&amp;A + what-if simulation, grounded on the outputs above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0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548640" y="1417320"/>
            <a:ext cx="2605320" cy="123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"/>
          <p:cNvSpPr/>
          <p:nvPr/>
        </p:nvSpPr>
        <p:spPr>
          <a:xfrm>
            <a:off x="548640" y="1417320"/>
            <a:ext cx="50040" cy="123372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713160" y="1527120"/>
            <a:ext cx="2331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713160" y="1984320"/>
            <a:ext cx="23310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291840" y="1417320"/>
            <a:ext cx="2605320" cy="123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3291840" y="1417320"/>
            <a:ext cx="50040" cy="123372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/>
          <p:nvPr/>
        </p:nvSpPr>
        <p:spPr>
          <a:xfrm>
            <a:off x="3456360" y="1527120"/>
            <a:ext cx="2331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456360" y="1984320"/>
            <a:ext cx="23310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Visits / Patient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6035040" y="1417320"/>
            <a:ext cx="2605320" cy="123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"/>
          <p:cNvSpPr/>
          <p:nvPr/>
        </p:nvSpPr>
        <p:spPr>
          <a:xfrm>
            <a:off x="6035040" y="1417320"/>
            <a:ext cx="50040" cy="123372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/>
          <p:nvPr/>
        </p:nvSpPr>
        <p:spPr>
          <a:xfrm>
            <a:off x="6199560" y="1527120"/>
            <a:ext cx="2331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199560" y="1984320"/>
            <a:ext cx="23310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Model Features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8778240" y="1417320"/>
            <a:ext cx="2879640" cy="123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0"/>
          <p:cNvSpPr/>
          <p:nvPr/>
        </p:nvSpPr>
        <p:spPr>
          <a:xfrm>
            <a:off x="8778240" y="1417320"/>
            <a:ext cx="50040" cy="123372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0"/>
          <p:cNvSpPr/>
          <p:nvPr/>
        </p:nvSpPr>
        <p:spPr>
          <a:xfrm>
            <a:off x="8942760" y="1527120"/>
            <a:ext cx="260532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2,500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8942760" y="1984320"/>
            <a:ext cx="260532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Modeled Rows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8942760" y="2359080"/>
            <a:ext cx="2605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after next-visit target shift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48640" y="2971800"/>
            <a:ext cx="54856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2A3F"/>
                </a:solidFill>
                <a:latin typeface="Calibri"/>
                <a:ea typeface="Calibri"/>
                <a:cs typeface="Calibri"/>
                <a:sym typeface="Calibri"/>
              </a:rPr>
              <a:t>DISEASE COHORTS (test set, N=526 visits)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p30"/>
          <p:cNvGraphicFramePr/>
          <p:nvPr/>
        </p:nvGraphicFramePr>
        <p:xfrm>
          <a:off x="54864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{F29403DF-280E-40F2-A175-C939172ED672}</a:tableStyleId>
              </a:tblPr>
              <a:tblGrid>
                <a:gridCol w="2651750"/>
                <a:gridCol w="1371600"/>
                <a:gridCol w="1371600"/>
              </a:tblGrid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Disease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Alzheimer's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4.51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Diabetes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193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4.22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38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Parkinson's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30"/>
          <p:cNvSpPr/>
          <p:nvPr/>
        </p:nvSpPr>
        <p:spPr>
          <a:xfrm>
            <a:off x="6400800" y="2971800"/>
            <a:ext cx="52113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2A3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6400800" y="3337560"/>
            <a:ext cx="5211360" cy="20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Time features: visit gap, log-gap, days since first visit, visit index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8 key biomarkers: previous value, delta, 3-visit rolling mean, baseline deviation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Target: CognitiveScore shifted forward one visit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Split: GroupShuffleSplit — no patient appears in both train &amp; test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502920" y="1371600"/>
            <a:ext cx="2148120" cy="1142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502920" y="1371600"/>
            <a:ext cx="50040" cy="114228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667440" y="1481400"/>
            <a:ext cx="1873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4.29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667440" y="1938600"/>
            <a:ext cx="18738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Model MAE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2788920" y="1371600"/>
            <a:ext cx="2148120" cy="1142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2788920" y="1371600"/>
            <a:ext cx="50040" cy="1142280"/>
          </a:xfrm>
          <a:prstGeom prst="rect">
            <a:avLst/>
          </a:prstGeom>
          <a:solidFill>
            <a:srgbClr val="63737D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1"/>
          <p:cNvSpPr/>
          <p:nvPr/>
        </p:nvSpPr>
        <p:spPr>
          <a:xfrm>
            <a:off x="2953440" y="1481400"/>
            <a:ext cx="1873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6.48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2953440" y="1938600"/>
            <a:ext cx="18738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Naive Baseline MAE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5074920" y="1371600"/>
            <a:ext cx="2148120" cy="1142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/>
          <p:nvPr/>
        </p:nvSpPr>
        <p:spPr>
          <a:xfrm>
            <a:off x="5074920" y="1371600"/>
            <a:ext cx="50040" cy="1142280"/>
          </a:xfrm>
          <a:prstGeom prst="rect">
            <a:avLst/>
          </a:prstGeom>
          <a:solidFill>
            <a:srgbClr val="2E8659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5239440" y="1481400"/>
            <a:ext cx="1873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5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8659"/>
                </a:solidFill>
                <a:latin typeface="Calibri"/>
                <a:ea typeface="Calibri"/>
                <a:cs typeface="Calibri"/>
                <a:sym typeface="Calibri"/>
              </a:rPr>
              <a:t>+2.19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5239440" y="1938600"/>
            <a:ext cx="18738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7360920" y="1371600"/>
            <a:ext cx="2148120" cy="1142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7360920" y="1371600"/>
            <a:ext cx="50040" cy="114228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1"/>
          <p:cNvSpPr/>
          <p:nvPr/>
        </p:nvSpPr>
        <p:spPr>
          <a:xfrm>
            <a:off x="7525440" y="1481400"/>
            <a:ext cx="1873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0.147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7525440" y="1938600"/>
            <a:ext cx="187380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9646920" y="1371600"/>
            <a:ext cx="2010960" cy="1142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/>
          <p:nvPr/>
        </p:nvSpPr>
        <p:spPr>
          <a:xfrm>
            <a:off x="9646920" y="1371600"/>
            <a:ext cx="50040" cy="114228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9811440" y="1481400"/>
            <a:ext cx="173664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62.5%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9811440" y="1938600"/>
            <a:ext cx="1736640" cy="17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Label Agreement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fusion_matrix.png" id="305" name="Google Shape;3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796480"/>
            <a:ext cx="4205520" cy="35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/>
          <p:nvPr/>
        </p:nvSpPr>
        <p:spPr>
          <a:xfrm>
            <a:off x="502920" y="2697480"/>
            <a:ext cx="4205520" cy="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"/>
          <p:cNvSpPr/>
          <p:nvPr/>
        </p:nvSpPr>
        <p:spPr>
          <a:xfrm>
            <a:off x="4937760" y="2697480"/>
            <a:ext cx="6720120" cy="3702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5166360" y="2834640"/>
            <a:ext cx="6308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ERROR CALCULATION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" name="Google Shape;309;p31"/>
          <p:cNvGraphicFramePr/>
          <p:nvPr/>
        </p:nvGraphicFramePr>
        <p:xfrm>
          <a:off x="516636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{F29403DF-280E-40F2-A175-C939172ED672}</a:tableStyleId>
              </a:tblPr>
              <a:tblGrid>
                <a:gridCol w="3154675"/>
                <a:gridCol w="3154675"/>
              </a:tblGrid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4.472 ± 0.189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5.429 ± 0.195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31"/>
          <p:cNvSpPr/>
          <p:nvPr/>
        </p:nvSpPr>
        <p:spPr>
          <a:xfrm>
            <a:off x="5166360" y="4480560"/>
            <a:ext cx="6308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SUBGROUP MAE BY OUTCOME LABEL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p31"/>
          <p:cNvGraphicFramePr/>
          <p:nvPr/>
        </p:nvGraphicFramePr>
        <p:xfrm>
          <a:off x="5166360" y="484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{F29403DF-280E-40F2-A175-C939172ED672}</a:tableStyleId>
              </a:tblPr>
              <a:tblGrid>
                <a:gridCol w="2194550"/>
                <a:gridCol w="1188725"/>
                <a:gridCol w="1371600"/>
                <a:gridCol w="1554475"/>
              </a:tblGrid>
              <a:tr h="32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Label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Agreement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Deteriorating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4.21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73.7%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Improving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4.35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68.1%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4.37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27.0%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31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— What Drives Each Prediction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_bar.png" id="323" name="Google Shape;3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0160"/>
            <a:ext cx="4114080" cy="3857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_beeswarm.png" id="324" name="Google Shape;32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820160"/>
            <a:ext cx="4114080" cy="3857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/>
          <p:nvPr/>
        </p:nvSpPr>
        <p:spPr>
          <a:xfrm>
            <a:off x="9098280" y="1371600"/>
            <a:ext cx="2605320" cy="4208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2"/>
          <p:cNvSpPr/>
          <p:nvPr/>
        </p:nvSpPr>
        <p:spPr>
          <a:xfrm>
            <a:off x="9281160" y="1508760"/>
            <a:ext cx="2285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TOP DRIVERS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9281160" y="1828800"/>
            <a:ext cx="2331000" cy="1255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Cognitive Score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Days since first visit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Medication Dose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636120" y="5940000"/>
            <a:ext cx="11063520" cy="2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Every prediction is accompanied by patient-specific explanations rather than just a risk score.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Phenotyping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548640" y="1325880"/>
            <a:ext cx="11063520" cy="2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Patients are clustered by which clinical domain dominates their SHAP profile — not by raw biomarkers.</a:t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" name="Google Shape;341;p33"/>
          <p:cNvGraphicFramePr/>
          <p:nvPr/>
        </p:nvGraphicFramePr>
        <p:xfrm>
          <a:off x="54864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{F29403DF-280E-40F2-A175-C939172ED672}</a:tableStyleId>
              </a:tblPr>
              <a:tblGrid>
                <a:gridCol w="3977275"/>
                <a:gridCol w="1005850"/>
                <a:gridCol w="1554475"/>
                <a:gridCol w="1600200"/>
                <a:gridCol w="1463050"/>
                <a:gridCol w="15087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Phenotype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Cohort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Improving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Deteriorating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Cardiometabolic / BMI Dominant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261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52.2%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42.1%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24.1%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3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C1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33.7%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Cardiometabolic / Cholesterol Dominant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20.6%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42.7%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18.4%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3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C1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38.8%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Cardiometabolic / Heart Rate Dominant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14.0%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37.1%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17.1%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3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C1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45.7%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 / Medication Dose Dominant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13.2%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36.4%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3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C1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47.0%</a:t>
                      </a:r>
                      <a:endParaRPr b="0"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33"/>
          <p:cNvSpPr/>
          <p:nvPr/>
        </p:nvSpPr>
        <p:spPr>
          <a:xfrm>
            <a:off x="548640" y="4434840"/>
            <a:ext cx="11109240" cy="1736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777240" y="4572000"/>
            <a:ext cx="10606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HOW GROUPS ARE FORMED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777240" y="4892040"/>
            <a:ext cx="10606320" cy="10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Per visit: sum absolute SHAP importance by domain (Lifestyle, Cardiometabolic, Treatment, Disease, Demographic) → dominant domain + strongest feature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Deduplicate to one phenotype per patient via the modal label across visits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Small phenotypes (&lt; 20 patients) merged into the closest large group by cosine similarity of domain-SHAP vectors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4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4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INTERACTIVE SYSTEM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Chatbot — Grounded LLM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668880" y="2468880"/>
            <a:ext cx="1965240" cy="118800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Context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Assembly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prompt_builder.py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2890800" y="2468880"/>
            <a:ext cx="1965240" cy="118800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Injection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factors + peer stats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phenotype lookup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112720" y="2468880"/>
            <a:ext cx="1965240" cy="1188000"/>
          </a:xfrm>
          <a:prstGeom prst="roundRect">
            <a:avLst>
              <a:gd fmla="val 10000" name="adj"/>
            </a:avLst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large, fully-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prompt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7335000" y="2468880"/>
            <a:ext cx="1965240" cy="1188000"/>
          </a:xfrm>
          <a:prstGeom prst="roundRect">
            <a:avLst>
              <a:gd fmla="val 10000" name="adj"/>
            </a:avLst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LLM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Ollama / Llama3.1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9556920" y="2468880"/>
            <a:ext cx="1965240" cy="1188000"/>
          </a:xfrm>
          <a:prstGeom prst="roundRect">
            <a:avLst>
              <a:gd fmla="val 10000" name="adj"/>
            </a:avLst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50750" lIns="76300" spcFirstLastPara="1" rIns="76300" wrap="square" tIns="5075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Constrained to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injected context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34"/>
          <p:cNvCxnSpPr/>
          <p:nvPr/>
        </p:nvCxnSpPr>
        <p:spPr>
          <a:xfrm>
            <a:off x="2634840" y="306324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2" name="Google Shape;362;p34"/>
          <p:cNvCxnSpPr/>
          <p:nvPr/>
        </p:nvCxnSpPr>
        <p:spPr>
          <a:xfrm>
            <a:off x="4856760" y="306324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3" name="Google Shape;363;p34"/>
          <p:cNvCxnSpPr/>
          <p:nvPr/>
        </p:nvCxnSpPr>
        <p:spPr>
          <a:xfrm>
            <a:off x="7078680" y="306324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4" name="Google Shape;364;p34"/>
          <p:cNvCxnSpPr/>
          <p:nvPr/>
        </p:nvCxnSpPr>
        <p:spPr>
          <a:xfrm>
            <a:off x="9300600" y="3063240"/>
            <a:ext cx="255960" cy="360"/>
          </a:xfrm>
          <a:prstGeom prst="straightConnector1">
            <a:avLst/>
          </a:prstGeom>
          <a:noFill/>
          <a:ln cap="flat" cmpd="sng" w="31750">
            <a:solidFill>
              <a:srgbClr val="63737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5" name="Google Shape;365;p34"/>
          <p:cNvSpPr/>
          <p:nvPr/>
        </p:nvSpPr>
        <p:spPr>
          <a:xfrm>
            <a:off x="548640" y="4526280"/>
            <a:ext cx="5394240" cy="1690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4"/>
          <p:cNvSpPr/>
          <p:nvPr/>
        </p:nvSpPr>
        <p:spPr>
          <a:xfrm>
            <a:off x="777240" y="4663440"/>
            <a:ext cx="49370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WHAT'S IN THE PROMPT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777240" y="4983480"/>
            <a:ext cx="493704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Predicted score + top-5 SHAP factors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Peer comparison stats within phenotype group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Full clinical profile for the patient's last visit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Actionable vs. non-actionable factor rules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6080760" y="4526280"/>
            <a:ext cx="5577120" cy="1690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6309360" y="4663440"/>
            <a:ext cx="5119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WHY THIS STILL PREVENTS HALLUCINATION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6309360" y="4983480"/>
            <a:ext cx="5119920" cy="95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Model has no unmet need to invent facts — everything relevant is already in context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1"/>
              </a:spcBef>
              <a:spcAft>
                <a:spcPts val="0"/>
              </a:spcAft>
              <a:buClr>
                <a:srgbClr val="1B6B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System-prompt rules forbid inventing peer patients or raw SHAP numbers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5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INTERACTIVE SYSTEM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What-If Simulation Engine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548640" y="1463040"/>
            <a:ext cx="5760000" cy="25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Detect natural language scenario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Parse feature modifications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Update patient profile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Re-run XGBoost prediction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Compare before vs after results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1B6B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Explain changes with SHAP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6583680" y="1463040"/>
            <a:ext cx="5074200" cy="4479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6858000" y="1691640"/>
            <a:ext cx="4571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EXAMPLE EXCHANGE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6858000" y="2148840"/>
            <a:ext cx="45712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if cholesterol dropped to 180?"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6858000" y="3063240"/>
            <a:ext cx="4479840" cy="2651040"/>
          </a:xfrm>
          <a:prstGeom prst="rect">
            <a:avLst/>
          </a:prstGeom>
          <a:solidFill>
            <a:srgbClr val="173A5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5"/>
          <p:cNvSpPr/>
          <p:nvPr/>
        </p:nvSpPr>
        <p:spPr>
          <a:xfrm>
            <a:off x="7040880" y="3246120"/>
            <a:ext cx="4159800" cy="128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Predicted score: 21.4 → 23.1 (+1.7)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199"/>
              </a:spcBef>
              <a:spcAft>
                <a:spcPts val="0"/>
              </a:spcAft>
              <a:buClr>
                <a:srgbClr val="E887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Label: Deteriorating → Stable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199"/>
              </a:spcBef>
              <a:spcAft>
                <a:spcPts val="0"/>
              </a:spcAft>
              <a:buClr>
                <a:srgbClr val="E887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SHAP shift: Cholesterol contribution drops from a top-3 risk factor to neutral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INTERACTIVE SYSTEM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Capabilities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548640" y="141732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/>
          <p:nvPr/>
        </p:nvSpPr>
        <p:spPr>
          <a:xfrm>
            <a:off x="548640" y="141732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/>
          <p:nvPr/>
        </p:nvSpPr>
        <p:spPr>
          <a:xfrm>
            <a:off x="749880" y="162864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"Why did the model predict this score?"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6172200" y="141732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6172200" y="141732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6373440" y="162864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"What are the biggest risk factors for this patient?"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548640" y="219456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548640" y="219456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749880" y="240588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"How does this patient compare to similar patients?"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6172200" y="219456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6172200" y="219456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6373440" y="240588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"What if cholesterol dropped to 180?"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548640" y="297180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548640" y="297180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749880" y="318312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"What's the single best change this patient could make?"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6172200" y="297180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6172200" y="297180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6373440" y="318312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"What is SHAP and why does it matter here?"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548640" y="3749040"/>
            <a:ext cx="5348520" cy="62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548640" y="3749040"/>
            <a:ext cx="50040" cy="62100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749880" y="3960360"/>
            <a:ext cx="5028480" cy="1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"Give me a patient summary."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548640" y="5074920"/>
            <a:ext cx="11109240" cy="1233720"/>
          </a:xfrm>
          <a:prstGeom prst="rect">
            <a:avLst/>
          </a:prstGeom>
          <a:solidFill>
            <a:srgbClr val="FDF1E4"/>
          </a:solidFill>
          <a:ln cap="flat" cmpd="sng" w="12700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777240" y="5486400"/>
            <a:ext cx="1060632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3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E2A3F"/>
                </a:solidFill>
                <a:latin typeface="Calibri"/>
                <a:ea typeface="Calibri"/>
                <a:cs typeface="Calibri"/>
                <a:sym typeface="Calibri"/>
              </a:rPr>
              <a:t>The chatbot distinguishes actionable factors (lifestyle, medication, cardiometabolic) from non-actionable ones (age, disease diagnosis, cognitive history) and never recommends changing the latter.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7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7"/>
          <p:cNvSpPr/>
          <p:nvPr/>
        </p:nvSpPr>
        <p:spPr>
          <a:xfrm>
            <a:off x="0" y="1051560"/>
            <a:ext cx="12191400" cy="3780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502920" y="146160"/>
            <a:ext cx="9143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502920" y="402480"/>
            <a:ext cx="10515240" cy="3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11475720" y="146160"/>
            <a:ext cx="548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548640" y="1874520"/>
            <a:ext cx="2605680" cy="365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7"/>
          <p:cNvSpPr/>
          <p:nvPr/>
        </p:nvSpPr>
        <p:spPr>
          <a:xfrm>
            <a:off x="548640" y="1874520"/>
            <a:ext cx="2605680" cy="50256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685800" y="2011320"/>
            <a:ext cx="23313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&amp; ML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713160" y="2541960"/>
            <a:ext cx="23130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Python 3 + Flask — REST API, SSE streaming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XGBoost — regression model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SHAP — model explainability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pandas, NumPy, scikit-learn, SciPy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matplotlib — offline report visualisations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3355920" y="1874520"/>
            <a:ext cx="2605680" cy="365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7"/>
          <p:cNvSpPr/>
          <p:nvPr/>
        </p:nvSpPr>
        <p:spPr>
          <a:xfrm>
            <a:off x="3355920" y="1874520"/>
            <a:ext cx="2605680" cy="50256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/>
          <p:nvPr/>
        </p:nvSpPr>
        <p:spPr>
          <a:xfrm>
            <a:off x="3493080" y="2011320"/>
            <a:ext cx="23313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3520440" y="2541960"/>
            <a:ext cx="2313000" cy="22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React 19 + TypeScript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Vite — build tooling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Tailwind CSS 4 — styling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Recharts — trajectory, SHAP, radar charts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Framer Motion · React Router · React Markdown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6120000" y="1874520"/>
            <a:ext cx="2648880" cy="3345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7"/>
          <p:cNvSpPr/>
          <p:nvPr/>
        </p:nvSpPr>
        <p:spPr>
          <a:xfrm>
            <a:off x="6163200" y="1874520"/>
            <a:ext cx="2605680" cy="50256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"/>
          <p:cNvSpPr/>
          <p:nvPr/>
        </p:nvSpPr>
        <p:spPr>
          <a:xfrm>
            <a:off x="6300360" y="2011320"/>
            <a:ext cx="23313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/ LLM Layer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6327720" y="2541960"/>
            <a:ext cx="2313000" cy="255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Ollama — local LLM runtime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E887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Llama 3.1 (8B, default) / 3.2 (3B) — served via Ollama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E887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Structured context injection (prompt_builder.py)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E887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Retry with linear backoff (llm_backend.py)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8970120" y="1874520"/>
            <a:ext cx="2605680" cy="2523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8970120" y="1874520"/>
            <a:ext cx="2605680" cy="50256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9107280" y="2011320"/>
            <a:ext cx="23313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Artifacts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9135000" y="2541960"/>
            <a:ext cx="23130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Flat-file pipeline — CSV, Pickle, JSON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No external database — reproducible offline outputs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1"/>
              </a:spcBef>
              <a:spcAft>
                <a:spcPts val="0"/>
              </a:spcAft>
              <a:buClr>
                <a:srgbClr val="1B6B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25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xgb_model.ubj — cached model for live simulation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548640" y="5989320"/>
            <a:ext cx="11063880" cy="16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Single-process deployment: Flask serves both the REST/SSE API and the built React app (frontend/dist/).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502920" y="6546960"/>
            <a:ext cx="8229240" cy="13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8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8"/>
          <p:cNvSpPr/>
          <p:nvPr/>
        </p:nvSpPr>
        <p:spPr>
          <a:xfrm>
            <a:off x="0" y="1051560"/>
            <a:ext cx="12191400" cy="3780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8"/>
          <p:cNvSpPr/>
          <p:nvPr/>
        </p:nvSpPr>
        <p:spPr>
          <a:xfrm>
            <a:off x="502920" y="146160"/>
            <a:ext cx="10058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LIVE PRODUCT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502920" y="402480"/>
            <a:ext cx="10515240" cy="3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Demonstration — Patient Workspace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11475720" y="146160"/>
            <a:ext cx="548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548640" y="1207080"/>
            <a:ext cx="1106388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CognixAI — live screenshots from the deployed clinical dashboard, patient PID0000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31212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"/>
          <p:cNvSpPr/>
          <p:nvPr/>
        </p:nvSpPr>
        <p:spPr>
          <a:xfrm>
            <a:off x="31212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8"/>
          <p:cNvSpPr/>
          <p:nvPr/>
        </p:nvSpPr>
        <p:spPr>
          <a:xfrm>
            <a:off x="44028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40932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66" name="Google Shape;4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2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8"/>
          <p:cNvSpPr/>
          <p:nvPr/>
        </p:nvSpPr>
        <p:spPr>
          <a:xfrm>
            <a:off x="31212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At-a-glance patient snapshot — prediction, phenotype, confidence, and top SHAP drivers.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424404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8"/>
          <p:cNvSpPr/>
          <p:nvPr/>
        </p:nvSpPr>
        <p:spPr>
          <a:xfrm>
            <a:off x="424404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8"/>
          <p:cNvSpPr/>
          <p:nvPr/>
        </p:nvSpPr>
        <p:spPr>
          <a:xfrm>
            <a:off x="437220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Assistant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434124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72" name="Google Shape;47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384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8"/>
          <p:cNvSpPr/>
          <p:nvPr/>
        </p:nvSpPr>
        <p:spPr>
          <a:xfrm>
            <a:off x="424404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Evidence-grounded conversation — the model explains its own prediction in plain language.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817596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8"/>
          <p:cNvSpPr/>
          <p:nvPr/>
        </p:nvSpPr>
        <p:spPr>
          <a:xfrm>
            <a:off x="817596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8"/>
          <p:cNvSpPr/>
          <p:nvPr/>
        </p:nvSpPr>
        <p:spPr>
          <a:xfrm>
            <a:off x="830412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What-If Simulation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827316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78" name="Google Shape;47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576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8"/>
          <p:cNvSpPr/>
          <p:nvPr/>
        </p:nvSpPr>
        <p:spPr>
          <a:xfrm>
            <a:off x="817596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Adjust clinical features and see the predicted score update, with feature contribution shifts.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502920" y="6546960"/>
            <a:ext cx="8229240" cy="13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9"/>
          <p:cNvSpPr/>
          <p:nvPr/>
        </p:nvSpPr>
        <p:spPr>
          <a:xfrm>
            <a:off x="0" y="1051560"/>
            <a:ext cx="12191400" cy="3780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9"/>
          <p:cNvSpPr/>
          <p:nvPr/>
        </p:nvSpPr>
        <p:spPr>
          <a:xfrm>
            <a:off x="502920" y="146160"/>
            <a:ext cx="10058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LIVE PRODUCT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502920" y="402480"/>
            <a:ext cx="10515240" cy="3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Demonstration — Analysis &amp; Insights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11475720" y="146160"/>
            <a:ext cx="548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548640" y="1207080"/>
            <a:ext cx="1106388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CognixAI — live screenshots from the deployed clinical dashboard, patient PID0000</a:t>
            </a:r>
            <a:endParaRPr b="0" i="0" sz="12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31212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9"/>
          <p:cNvSpPr/>
          <p:nvPr/>
        </p:nvSpPr>
        <p:spPr>
          <a:xfrm>
            <a:off x="31212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9"/>
          <p:cNvSpPr/>
          <p:nvPr/>
        </p:nvSpPr>
        <p:spPr>
          <a:xfrm>
            <a:off x="44028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Explainability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40932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96" name="Google Shape;4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2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9"/>
          <p:cNvSpPr/>
          <p:nvPr/>
        </p:nvSpPr>
        <p:spPr>
          <a:xfrm>
            <a:off x="31212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Per-patient and global SHAP plots reveal exactly what drives each prediction.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424404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9"/>
          <p:cNvSpPr/>
          <p:nvPr/>
        </p:nvSpPr>
        <p:spPr>
          <a:xfrm>
            <a:off x="424404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437220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Phenotype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434124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02" name="Google Shape;50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384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9"/>
          <p:cNvSpPr/>
          <p:nvPr/>
        </p:nvSpPr>
        <p:spPr>
          <a:xfrm>
            <a:off x="424404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Cluster-level outcome rates and clinical characteristics for this patient's phenotype.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8175960" y="2216880"/>
            <a:ext cx="3702960" cy="278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8175960" y="2216880"/>
            <a:ext cx="3702960" cy="38376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9"/>
          <p:cNvSpPr/>
          <p:nvPr/>
        </p:nvSpPr>
        <p:spPr>
          <a:xfrm>
            <a:off x="8304120" y="2309400"/>
            <a:ext cx="344700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Peer Comparison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8273160" y="2866680"/>
            <a:ext cx="3508920" cy="2202480"/>
          </a:xfrm>
          <a:prstGeom prst="rect">
            <a:avLst/>
          </a:prstGeom>
          <a:noFill/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08" name="Google Shape;50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5760" y="2879280"/>
            <a:ext cx="3483360" cy="21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9"/>
          <p:cNvSpPr/>
          <p:nvPr/>
        </p:nvSpPr>
        <p:spPr>
          <a:xfrm>
            <a:off x="8175960" y="5144040"/>
            <a:ext cx="3702960" cy="38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Percentile ranking against phenotype peers on actionable clinical features.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502920" y="6546960"/>
            <a:ext cx="8229240" cy="13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0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0"/>
          <p:cNvSpPr/>
          <p:nvPr/>
        </p:nvSpPr>
        <p:spPr>
          <a:xfrm>
            <a:off x="0" y="1051560"/>
            <a:ext cx="12191400" cy="3780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0"/>
          <p:cNvSpPr/>
          <p:nvPr/>
        </p:nvSpPr>
        <p:spPr>
          <a:xfrm>
            <a:off x="502920" y="146160"/>
            <a:ext cx="10058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HONEST ASSESSMENT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502920" y="402480"/>
            <a:ext cx="10515240" cy="3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11475720" y="146160"/>
            <a:ext cx="548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548640" y="1508760"/>
            <a:ext cx="11063880" cy="32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Synthetic dataset used instead of real clinical data.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Predicts only a single outcome (future cognitive score).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Simulations represent hypothetical model predictions, not causal clinical effects.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SHAP explains model behavior, not cause-and-effect relationships.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Local LLM has limited reasoning compared to larger cloud-based models.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1B6B9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70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Intended as a clinical decision-support tool, not a replacement for clinicians.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502920" y="6546960"/>
            <a:ext cx="8229240" cy="13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1"/>
          <p:cNvSpPr/>
          <p:nvPr/>
        </p:nvSpPr>
        <p:spPr>
          <a:xfrm>
            <a:off x="0" y="1051560"/>
            <a:ext cx="12191400" cy="3780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1"/>
          <p:cNvSpPr/>
          <p:nvPr/>
        </p:nvSpPr>
        <p:spPr>
          <a:xfrm>
            <a:off x="502920" y="146160"/>
            <a:ext cx="10058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502920" y="402480"/>
            <a:ext cx="10515240" cy="3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11475720" y="146160"/>
            <a:ext cx="548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582120" y="1371600"/>
            <a:ext cx="2605680" cy="241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1"/>
          <p:cNvSpPr/>
          <p:nvPr/>
        </p:nvSpPr>
        <p:spPr>
          <a:xfrm>
            <a:off x="582120" y="1371600"/>
            <a:ext cx="2605680" cy="56664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1"/>
          <p:cNvSpPr/>
          <p:nvPr/>
        </p:nvSpPr>
        <p:spPr>
          <a:xfrm>
            <a:off x="709920" y="1548000"/>
            <a:ext cx="23497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Validation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728280" y="2066400"/>
            <a:ext cx="2331360" cy="131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Validate against real-world clinical datasets (IRB / privacy review)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Evaluate performance through clinical studies and expert feedback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3389400" y="1371600"/>
            <a:ext cx="2605680" cy="320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1"/>
          <p:cNvSpPr/>
          <p:nvPr/>
        </p:nvSpPr>
        <p:spPr>
          <a:xfrm>
            <a:off x="3389400" y="1371600"/>
            <a:ext cx="2605680" cy="56664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3517200" y="1548000"/>
            <a:ext cx="23497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Improvements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3535560" y="2066400"/>
            <a:ext cx="2331360" cy="18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Predict multiple clinical outcomes, not just cognitive score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Incorporate multimodal data — imaging, genomics, wearables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Expand SHAP phenotype domains beyond today's 5 categories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6196320" y="1371600"/>
            <a:ext cx="2605680" cy="320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1"/>
          <p:cNvSpPr/>
          <p:nvPr/>
        </p:nvSpPr>
        <p:spPr>
          <a:xfrm>
            <a:off x="6196320" y="1371600"/>
            <a:ext cx="2605680" cy="5666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1"/>
          <p:cNvSpPr/>
          <p:nvPr/>
        </p:nvSpPr>
        <p:spPr>
          <a:xfrm>
            <a:off x="6324480" y="1548000"/>
            <a:ext cx="23497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Assistant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1"/>
          <p:cNvSpPr/>
          <p:nvPr/>
        </p:nvSpPr>
        <p:spPr>
          <a:xfrm>
            <a:off x="6342840" y="2066400"/>
            <a:ext cx="2331360" cy="199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Ground responses in medical guidelines via embeddings + similarity search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E8871E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Improve reasoning with more capable LLMs while keeping evidence grounding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E8871E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Chain multiple what-if simulations into multi-step care plans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9003600" y="1371600"/>
            <a:ext cx="2605680" cy="320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8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9003600" y="1371600"/>
            <a:ext cx="2605680" cy="566640"/>
          </a:xfrm>
          <a:prstGeom prst="rect">
            <a:avLst/>
          </a:prstGeom>
          <a:solidFill>
            <a:srgbClr val="1B6B93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9131760" y="1548000"/>
            <a:ext cx="23497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Deployment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1"/>
          <p:cNvSpPr/>
          <p:nvPr/>
        </p:nvSpPr>
        <p:spPr>
          <a:xfrm>
            <a:off x="9150120" y="2066400"/>
            <a:ext cx="2331360" cy="145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0" spcFirstLastPara="1" rIns="0" wrap="square" tIns="4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Integrate with Electronic Health Record (EHR) systems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Clinician-facing decision support platform for routine use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1B6B93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B6B9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080" u="none" cap="none" strike="noStrike">
                <a:solidFill>
                  <a:srgbClr val="1D2731"/>
                </a:solidFill>
                <a:latin typeface="Calibri"/>
                <a:ea typeface="Calibri"/>
                <a:cs typeface="Calibri"/>
                <a:sym typeface="Calibri"/>
              </a:rPr>
              <a:t>PHI/HIPAA-compliant hosting, access control, audit logging</a:t>
            </a:r>
            <a:endParaRPr b="0" i="0" sz="108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1"/>
          <p:cNvSpPr/>
          <p:nvPr/>
        </p:nvSpPr>
        <p:spPr>
          <a:xfrm>
            <a:off x="548640" y="5257800"/>
            <a:ext cx="11109600" cy="959760"/>
          </a:xfrm>
          <a:prstGeom prst="rect">
            <a:avLst/>
          </a:prstGeom>
          <a:solidFill>
            <a:srgbClr val="FDF1E4"/>
          </a:solidFill>
          <a:ln cap="flat" cmpd="sng" w="15875">
            <a:solidFill>
              <a:srgbClr val="E8871E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1"/>
          <p:cNvSpPr/>
          <p:nvPr/>
        </p:nvSpPr>
        <p:spPr>
          <a:xfrm>
            <a:off x="777240" y="5367600"/>
            <a:ext cx="10606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LONG-TERM VISION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1"/>
          <p:cNvSpPr/>
          <p:nvPr/>
        </p:nvSpPr>
        <p:spPr>
          <a:xfrm>
            <a:off x="777240" y="5660280"/>
            <a:ext cx="1060668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F"/>
                </a:solidFill>
                <a:latin typeface="Calibri"/>
                <a:ea typeface="Calibri"/>
                <a:cs typeface="Calibri"/>
                <a:sym typeface="Calibri"/>
              </a:rPr>
              <a:t>An explainable, AI-powered clinical decision support system that assists healthcare professionals in personalized patient monitoring and intervention planning.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502920" y="6546960"/>
            <a:ext cx="8229240" cy="13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0" y="0"/>
            <a:ext cx="12191040" cy="105084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2"/>
          <p:cNvSpPr/>
          <p:nvPr/>
        </p:nvSpPr>
        <p:spPr>
          <a:xfrm>
            <a:off x="0" y="10515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502920" y="146160"/>
            <a:ext cx="91432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502920" y="402480"/>
            <a:ext cx="1051488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Codebase Architecture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11475720" y="146160"/>
            <a:ext cx="547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3" name="Google Shape;563;p42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{F29403DF-280E-40F2-A175-C939172ED672}</a:tableStyleId>
              </a:tblPr>
              <a:tblGrid>
                <a:gridCol w="3017525"/>
                <a:gridCol w="80924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6B93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preprocessing: load, clean, engineer features, encode, split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xgboost_and_shap.py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Trains XGBoost, computes SHAP, evaluates, generates plots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generate_shap_phenotype.py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Clusters patients into phenotypes, builds knowledge base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Peer comparison statistics + clinical language generation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prompt_builder.py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Assembles patient context, builds the LLM system prompt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simulation_engine.py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What-if scenario engine (re-runs model on edited features)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llm_backend.py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 LLM provider with retry/backoff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llm_chatbot.py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731"/>
                        </a:buClr>
                        <a:buSzPts val="1300"/>
                        <a:buFont typeface="Calibri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D27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Interactive entry point — the chatbot itself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64" name="Google Shape;564;p42"/>
          <p:cNvSpPr/>
          <p:nvPr/>
        </p:nvSpPr>
        <p:spPr>
          <a:xfrm>
            <a:off x="502920" y="6546960"/>
            <a:ext cx="822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2A3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3"/>
          <p:cNvSpPr/>
          <p:nvPr/>
        </p:nvSpPr>
        <p:spPr>
          <a:xfrm>
            <a:off x="0" y="3794760"/>
            <a:ext cx="12191040" cy="37440"/>
          </a:xfrm>
          <a:prstGeom prst="rect">
            <a:avLst/>
          </a:prstGeom>
          <a:solidFill>
            <a:srgbClr val="E8871E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3"/>
          <p:cNvSpPr/>
          <p:nvPr/>
        </p:nvSpPr>
        <p:spPr>
          <a:xfrm>
            <a:off x="822960" y="2880360"/>
            <a:ext cx="10514880" cy="67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822960" y="4023360"/>
            <a:ext cx="10514880" cy="30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8D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FA8D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822960" y="5943600"/>
            <a:ext cx="105148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37D"/>
                </a:solidFill>
                <a:latin typeface="Calibri"/>
                <a:ea typeface="Calibri"/>
                <a:cs typeface="Calibri"/>
                <a:sym typeface="Calibri"/>
              </a:rPr>
              <a:t>Cognitive Decline Prediction — Explainable AI Pipeline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